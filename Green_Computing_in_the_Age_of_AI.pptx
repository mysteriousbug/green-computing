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TWh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D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2026 (est.)</c:v>
                </c:pt>
                <c:pt idx="2">
                  <c:v>2030 (IEA)</c:v>
                </c:pt>
                <c:pt idx="3">
                  <c:v>2035 (IEA)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415</c:v>
                </c:pt>
                <c:pt idx="1">
                  <c:v>1050</c:v>
                </c:pt>
                <c:pt idx="2">
                  <c:v>945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EF-4897-89DA-B17DB997E9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6350" cap="flat">
              <a:solidFill>
                <a:srgbClr val="D6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centres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D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 Africa</c:v>
                </c:pt>
                <c:pt idx="1">
                  <c:v>Kenya</c:v>
                </c:pt>
                <c:pt idx="2">
                  <c:v>Nigeria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</c:v>
                </c:pt>
                <c:pt idx="1">
                  <c:v>19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41-4D96-8F60-93320C8A69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D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BF1E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49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'Welcome back to Crust EcoNetwork's Green Computing Masterclass. Some of you may have seen earlier versions of this session — this year the story is genuinely different.' Set the frame: in the last two years, the biggest change in computing's environmental footprint is one word — AI. The tools they use every day (chatbots, image generators, AI search) now drive the conversation. Tell them what they'll leave with: (1) a real sense of how big AI's energy and water footprint is, (2) why it matters especially here, in Africa, and (3) concrete things they can do — plus a live calculator they'll play with. Keep energy high, this is a hopeful talk, not a doom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manages expectations and contrasts with previous cohorts. Say plainly: 'If you came expecting tips on tightening loops and picking efficient algorithms — that's real, and I'll point you to it — but the bigger lever now is understanding AI.' Walk the four blocks left to right: energy, water, Africa's opportunity, and what you can do. Promise them the live calculator at the end so they stay engaged. Keep this to ~90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emotional hook. Slow down. The line 'every prompt has a price' is the spine of the whole talk — repeat it later. Make it concrete and personal: ask the room, 'How many of you used an AI tool today — ChatGPT, Gemini, an AI search?' Hands go up. 'Each of those had a physical cost you never saw.' The 50% stat: AI-specific data centre electricity grew 50% in a single year (2025) per the IEA — overall data centre demand grew about 17%. The point isn't the exact number, it's the speed. This is the fastest-growing new source of electricity demand in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every number — pick the one that lands. The Japan comparison is the most graspable: a few thousand machines, collectively using as much power as a major industrial nation. The chart shows the trajectory: ~415 TWh in 2024 leaping toward ~1,050 TWh by 2026 (this is a high estimate that includes crypto + AI), then the IEA's steadier base-case of ~945 TWh by 2030 rising to ~1,200 by 2035. Note for the audience that estimates vary — the agreed point is rapid, sustained growth. The 12%/year vs overall growth line is the killer fact: this isn't ordinary demand growth, it's a step change. If a sharp student asks why 2026 looks higher than 2030 — explain different estimates/scopes; the right takeaway is scale, not a single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relatable slide — anchor everything here. The ~10x difference (0.3 Wh vs ~2.9 Wh) is an IEA illustrative comparison; flag that real numbers vary a lot by model and by how hard the task is (a one-line answer vs generating an image or video is wildly different). The takeaway is the multiplication: billions of times a day. Invite a quick mental image — 'imagine 9 billion of these happening daily.' Resist the urge to make them feel guilty for using AI. The message is awareness and choice, not abstinence.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 is the surprise of this talk — most people have never connected AI to water. Lead with the human comparison: a trillion litres ≈ the yearly water of 1.8 million people. The 700,000 litres for training GPT-3 is striking precisely because it's *one model, one training run* — and only the on-site cooling portion. The green strip answers the obvious question ('why does a computer need water?') — keep that explanation simple and physical: electricity in, heat out, water cools it. End by foreshadowing the next slide: it matters most where water is already scarce.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from global to local. This is where your perspective matters — you work in technology and you're speaking to people who will live with these trade-offs. Keep it balanced and non-preachy. The 'honest tension' line is important: you're not telling them AI is bad or that Africa shouldn't build data centres. You're saying the choices made now lock in decades of impact. This sets up the hopeful turn — the leapfrog opportunity — which is the heart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small number positively: 'less than 0.02% of the world's data centres' isn't a failure — it means almost the entire build-out is still ahead, and therefore still up for grabs. The decisions about how clean it is haven't been made yet. Note the concentration (South Africa, Kenya, Nigeria = 41%) and the market doubling to ~$6.8B by 2030. Land the line: 'Africa gets to decide what kind of digital infrastructure it builds — and it can choose clean.' That's the bridge to the leapfrog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optimistic spine of the talk and likely the line they'll remember. The leapfrog analogy is powerful for this audience because they have lived it: M-Pesa and mobile money, skipping landlines. Make it vivid: 'Nobody here is waiting for a landline to be installed.' The same jump is possible for compute — building on renewable power from the start instead of retrofitting later. Then promise evidence: 'This isn't wishful thinking — it's already happening. Let me show you Kenya.'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Kenya is your hero example — make it concrete and proud. The key technical insight, said simply: geothermal is 'always-on' clean power. Solar and wind are great but intermittent; geothermal runs day and night, which is what a data centre (running 24/7) actually needs. So Kenya isn't just clean by luck — it's clean in a way that genuinely fits this use. The Naivasha project ($1B, Microsoft + G42, 100 MW) is proof the model attracts serious global investment. If someone asks 'is it built yet?' — be honest: it's a major planned/under-development project; the significance is the model and the scale of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is credibility. If you only tell the Kenya story, a sharp student will think 'but my country has blackouts every week.' Name that reality directly (Nigeria, South Africa, load-shedding, diesel backup). Then reframe: the genuinely exciting idea is that a data centre is a huge, reliable, long-term electricity buyer — an 'anchor customer.' That guaranteed demand is exactly what lets a developer finance a new solar farm + battery storage. The data centre effectively pays to build clean power that can also serve the surrounding community. So the build-out, done well, can pull clean energy onto the grid rather than just draining it. That's the nuance that makes you sound like you actually understand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personal-credibility slide — you work in audit and data governance at a global bank, so data residency is your actual world. You can speak to it naturally: regulators increasingly require sensitive data (banking, health, government) to stay in-country, which forces local infrastructure. Connect the dots for them: local data centres = local jobs, local skills, and local control over how green and efficient they are. Sovereignty isn't just a compliance headache — it's leverage to build it right. Keep it short; this is a supporting idea, not the climax.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the energy to empowerment. Six concrete habits, all within a student's control. Don't read all six — pick two or three to dwell on (right-tool-right-size and ask-well-once are the most actionable) and let them scan the rest. The closing line is the whole philosophy in one sentence: 'use it like it costs something, because it does.' Say it slowly. Then transition to the fun part: 'Let's actually measure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calculator now (the separate HTML file). Suggested flow: (1) Ask the room to call out their daily habits — how many AI questions, how many hours of video, how many images. Type a 'typical student' profile in live. (2) Let the totals build and read out the comparisons — 'that's like charging your phone X times' / 'X bottles of water.' (3) Then bump up the AI image/video numbers to show how fast it climbs — the visual jump makes the point better than any slide. Keep it playful and interactive; this is the part they'll remember and talk about. If tech fails, you can describe a sample result from memory and move on — don't let a glitch derail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aspiration and agency. Connect green computing to actual livelihoods — these aren't abstract causes, they're growing job categories, many of which will be based in Africa as the build-out happens. Tie it to their lives: 'The people who design and run this clean infrastructure are going to be people your age, trained right now.' This is also a natural place to mention your own path if useful — bridging tech, sustainability and responsibility — as a living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spine: 'every prompt has a price — let's build like it.' That callback ties the whole talk together. Open the floor genuinely — invite disagreement and local examples; this audience often has sharp, lived-experience questions about energy and water. A few likely ones: 'Isn't AI worth the cost?' (yes, often — it's about using it wisely, not avoiding it); 'Will data centres take our water?' (a real risk in water-stressed areas — which is why cooling design and siting matter); 'Are these green data centres real or marketing?' (Kenya's geothermal advantage is genuine; be honest that some 'green' claims need scrutiny — that's exactly the kind of critical thinking you want from them). Thank Crust EcoNetwork and the students by name where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40916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931920"/>
            <a:ext cx="3108960" cy="3108960"/>
          </a:xfrm>
          <a:prstGeom prst="ellipse">
            <a:avLst/>
          </a:prstGeom>
          <a:solidFill>
            <a:srgbClr val="52B788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40916C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5800"/>
            <a:ext cx="914400" cy="91440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6" name="Image 0" descr="icons/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9235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 ECONETWORK  ·  GREEN COMPUTING MASTERCLASS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Computing</a:t>
            </a:r>
            <a:endParaRPr lang="en-US" sz="52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Age of AI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713232" y="4160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 of the tools we use every day — and Africa's chance to build it right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31520" y="5257800"/>
            <a:ext cx="274320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440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Ananya Aithal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Programme Associate, Standard Chartered  ·  3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efficient code to the cost of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cohorts focused on writing energy-efficient code. That still matters — but in 2026 the centre of gravity has shifted. The single biggest driver of computing's footprint today is artificial intelligence. So that's where we'll spend our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017520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32433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95728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32688" y="40690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story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2688" y="466344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electricity AI really uses — and why it's growing so fast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269748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49040" y="3017520"/>
            <a:ext cx="868680" cy="8686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3" name="Image 1" descr="icons/t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897" y="324337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84648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721608" y="40690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story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21608" y="466344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almost nobody talks about: cooling the machines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17920" y="269748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37960" y="3017520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9" name="Image 2" descr="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817" y="3243377"/>
            <a:ext cx="416966" cy="41696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73568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510528" y="40690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opportunity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10528" y="466344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continent can build clean computing from the start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06840" y="269748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26880" y="3017520"/>
            <a:ext cx="868680" cy="8686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5" name="Image 3" descr="icons/ha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2737" y="3243377"/>
            <a:ext cx="416966" cy="41696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62488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299448" y="40690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299448" y="466344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'Green AI' habits + a live footprint calculator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371600"/>
            <a:ext cx="4023360" cy="4023360"/>
          </a:xfrm>
          <a:prstGeom prst="ellipse">
            <a:avLst/>
          </a:prstGeom>
          <a:solidFill>
            <a:srgbClr val="40916C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prompt has a price.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ask an AI to write an email, draw a picture, or answer a question, real machines in a real building somewhere burn real electricity and evaporate real water to do it. That cost is invisible to you — but it is very real for the planet.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21040" y="22860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40916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21040" y="2514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549640" y="3611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electricity used by AI data centres in 2025 alone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International Energy Agency (IEA),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big is it, really?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562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~1,050 TWh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2770632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data-centre electricity use in 2026 — about the entire electricity use of Japan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33672" y="1600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62272" y="18562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5th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2770632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centres were a country, they'd be the world's 5th-largest electricity consumer — between Japan and Russia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27264" y="1600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55864" y="18562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12%/yr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74152" y="2770632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demand has grown ~12% a year since 2017 — over 4x faster than electricity demand overall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data-centre electricity demand (TWh)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48640" y="4389120"/>
          <a:ext cx="69494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7818120" y="429768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92440" y="452628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7" name="Image 0" descr="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635" y="4716475"/>
            <a:ext cx="351130" cy="3511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96112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jump?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092440" y="52578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AI chips (GPUs) run hot and hard, around the clock. Training and now everyday AI use add demand on top of everything we already do online.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IEA Electricity 2026; Brookings,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PERSONAL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search vs one AI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question, answered two ways, costs very different amounts of energy: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4846320" cy="2834640"/>
          </a:xfrm>
          <a:prstGeom prst="roundRect">
            <a:avLst>
              <a:gd name="adj" fmla="val 3226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606040"/>
            <a:ext cx="914400" cy="91440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7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8437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0" y="2697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web search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118872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watt-hours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2240280"/>
            <a:ext cx="4846320" cy="2834640"/>
          </a:xfrm>
          <a:prstGeom prst="roundRect">
            <a:avLst>
              <a:gd name="adj" fmla="val 3226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0" y="2606040"/>
            <a:ext cx="914400" cy="91440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3" name="Image 1" descr="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8437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55280" y="2697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chatbot answer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85800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~2.9</a:t>
            </a:r>
            <a:endParaRPr lang="en-US" sz="6400" dirty="0"/>
          </a:p>
        </p:txBody>
      </p:sp>
      <p:sp>
        <p:nvSpPr>
          <p:cNvPr id="16" name="Text 12"/>
          <p:cNvSpPr/>
          <p:nvPr/>
        </p:nvSpPr>
        <p:spPr>
          <a:xfrm>
            <a:off x="685800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watt-hours  ·  roughly 10x more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multiply by billions.  </a:t>
            </a:r>
            <a:r>
              <a:rPr lang="en-US" sz="15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billions of searches and AI requests every single day. Small per-use costs become enormous at global scale.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2296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figures; per-query energy varies by model and task. Source: IEA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almost nobody talks about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trillion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2606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litres of water used by AI-linked data centres in 2025 — the yearly water use of ~1.8 million people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783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700,000 L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44568" y="2606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fresh water evaporated just to cool the servers while training a single large AI model (GPT-3)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783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47888" y="2606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centre's total energy can go to cooling alone — and cooling often means evaporating water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927080" cy="1737360"/>
          </a:xfrm>
          <a:prstGeom prst="roundRect">
            <a:avLst>
              <a:gd name="adj" fmla="val 5263"/>
            </a:avLst>
          </a:prstGeom>
          <a:solidFill>
            <a:srgbClr val="2D6A4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1148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icons/water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" y="4376318"/>
            <a:ext cx="482803" cy="48280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40280" y="4023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computers need water?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24028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turn electricity into heat. To stop them overheating, many data centres spray or evaporate water to cool the air — clean, drinkable water, often in places that can least afford to lose it.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0080" y="5669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Mordor Intelligence 2025; UNU; Li et al.; MSCI, 2025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HOME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more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84448" cy="2743200"/>
          </a:xfrm>
          <a:prstGeom prst="roundRect">
            <a:avLst>
              <a:gd name="adj" fmla="val 333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icons/su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10896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precious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63016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communities still face outages and limited grid access. New demand on this scale can't be an afterthought.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84448" cy="2743200"/>
          </a:xfrm>
          <a:prstGeom prst="roundRect">
            <a:avLst>
              <a:gd name="adj" fmla="val 333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057400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1" name="Image 1" descr="icons/t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22951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10896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precious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81728" y="363016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of data centres sit in water-stressed regions. Cooling competes with farms, homes and people.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84448" cy="2743200"/>
          </a:xfrm>
          <a:prstGeom prst="roundRect">
            <a:avLst>
              <a:gd name="adj" fmla="val 333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057400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2" descr="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22951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310896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coming fast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0768" y="363016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digital economy is expanding rapidly. The infrastructure is being built right now — the choices are being made now.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470916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tension:  </a:t>
            </a:r>
            <a:r>
              <a:rPr lang="en-US" sz="1550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technology that can accelerate Africa's development also makes real demands on its scarcest resources. The goal isn't to reject it — it's to build it wisely.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continent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D6A4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74320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across 38 African countries (mid-2025)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less than 0.02% of the world's 11,800+ — the continent is at the very start of its build-out.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are concentrated</a:t>
            </a:r>
            <a:endParaRPr lang="en-US" sz="15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126480" y="2286000"/>
          <a:ext cx="53035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3794760"/>
            <a:ext cx="10927080" cy="1691640"/>
          </a:xfrm>
          <a:prstGeom prst="roundRect">
            <a:avLst>
              <a:gd name="adj" fmla="val 5405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05840" y="4114800"/>
            <a:ext cx="1005840" cy="100584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13" name="Image 0" descr="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358" y="437631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40280" y="416052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doubling by 2030.  </a:t>
            </a:r>
            <a:r>
              <a:rPr lang="en-US" sz="15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data-centre market was about $3.5 billion in 2024 and is projected to reach $6.8 billion by 2030. Three countries hold 41% of today's capacity — but the next wave is just beginning.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" y="5715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African Energy Chamber, State of African Energy 2026 Outlook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291840"/>
            <a:ext cx="4754880" cy="4754880"/>
          </a:xfrm>
          <a:prstGeom prst="ellipse">
            <a:avLst/>
          </a:prstGeom>
          <a:solidFill>
            <a:srgbClr val="40916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1828800"/>
            <a:ext cx="3657600" cy="3657600"/>
          </a:xfrm>
          <a:prstGeom prst="ellipse">
            <a:avLst/>
          </a:prstGeom>
          <a:solidFill>
            <a:srgbClr val="52B788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960120" cy="9601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" y="102687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960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 can leapfrog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clean computing.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13232" y="3886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much of the continent skipped landlines and went straight to mobile phones — and skipped bank branches for mobile money — it can skip the era of dirty, wasteful data centres and build on clean power from day one.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KENYA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power, by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532120" cy="3886200"/>
          </a:xfrm>
          <a:prstGeom prst="roundRect">
            <a:avLst>
              <a:gd name="adj" fmla="val 235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1005840" cy="10058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icons/mount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638" y="21817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65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built on renewables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60% of Kenya's electricity is already renewable — geothermal, solar, wind and hydro.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 alone supplies close to half the national grid: clean, and available 24/7 — unlike solar or wind, it doesn't stop at night or when the wind drops. That steady, low-carbon power is exactly what data centres need.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12080" cy="3886200"/>
          </a:xfrm>
          <a:prstGeom prst="roundRect">
            <a:avLst>
              <a:gd name="adj" fmla="val 2353"/>
            </a:avLst>
          </a:prstGeom>
          <a:solidFill>
            <a:srgbClr val="2D6A4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NAIVASHA GREEN DATA CENTRE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MW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6647688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green data centre, powered by the Naivasha geothermal zone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47688" y="4160520"/>
            <a:ext cx="448056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47688" y="42976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billion</a:t>
            </a:r>
            <a:r>
              <a:rPr lang="en-US" sz="15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investment by Microsoft and G42 — a flagship for clean, locally-powered compute.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5715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African Energy Chamber 2026; Bracewell, 2026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automatic — and that's the 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960120" cy="9601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icons/pl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751" y="22155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011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and South Africa face frequent outages and load-shedding.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stay online, some data centres still lean on diesel generators — which is neither clean nor cheap. Reliable power, not just clean power, is the real constraint.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65960"/>
            <a:ext cx="960120" cy="9601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1" name="Image 1" descr="icons/su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871" y="221559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011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30175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are turning into anchor customers for clean energy.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steady, guaranteed demand makes new solar farms and battery projects financially viable — projects that then serve whole communities, not just the data centre.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ALSO ABOUT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data, your continent, your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force is driving local data centres: data sovereignty — the rule that certain sensitive data must stay inside the country where it's created.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84448" cy="2651760"/>
          </a:xfrm>
          <a:prstGeom prst="roundRect">
            <a:avLst>
              <a:gd name="adj" fmla="val 3448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62072"/>
            <a:ext cx="868680" cy="86868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7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3087929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86791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home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438912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health and government data increasingly must be stored locally — so the infrastructure has to be local too.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2514600"/>
            <a:ext cx="3584448" cy="2651760"/>
          </a:xfrm>
          <a:prstGeom prst="roundRect">
            <a:avLst>
              <a:gd name="adj" fmla="val 3448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862072"/>
            <a:ext cx="868680" cy="86868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12" name="Image 1" descr="icons/briefc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017" y="3087929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86791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jobs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81728" y="438912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centres mean local engineering, operations and green-energy jobs — built in Africa, for Africa.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514600"/>
            <a:ext cx="3584448" cy="2651760"/>
          </a:xfrm>
          <a:prstGeom prst="roundRect">
            <a:avLst>
              <a:gd name="adj" fmla="val 3448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862072"/>
            <a:ext cx="868680" cy="8686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7" name="Image 2" descr="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057" y="3087929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86791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chance to lead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30768" y="438912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locally means setting the rules: efficiency, clean power and responsible use can be designed in from the start.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habits for the AI you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84448" cy="1481328"/>
          </a:xfrm>
          <a:prstGeom prst="roundRect">
            <a:avLst>
              <a:gd name="adj" fmla="val 617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3852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9" y="2164385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6537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tool, right size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28600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reach for a heavy AI model when a simple search or calculator will do. Match the tool to the task.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45920"/>
            <a:ext cx="3584448" cy="1481328"/>
          </a:xfrm>
          <a:prstGeom prst="roundRect">
            <a:avLst>
              <a:gd name="adj" fmla="val 617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93852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1" name="Image 1" descr="icons/comment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009" y="2164385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86537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well, once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69280" y="228600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specific prompts get you there faster — fewer back-and-forth tries means less energy spent.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584448" cy="1481328"/>
          </a:xfrm>
          <a:prstGeom prst="roundRect">
            <a:avLst>
              <a:gd name="adj" fmla="val 617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938528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2" descr="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049" y="2164385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8320" y="186537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what you make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418320" y="228600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reuse good AI outputs instead of regenerating the same thing again and again.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273552"/>
            <a:ext cx="3584448" cy="1481328"/>
          </a:xfrm>
          <a:prstGeom prst="roundRect">
            <a:avLst>
              <a:gd name="adj" fmla="val 617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566160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1" name="Image 3" descr="icons/seedl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969" y="379201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3493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efficiently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920240" y="3913632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write code: efficient algorithms and clean data still matter. Waste less compute by design.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273552"/>
            <a:ext cx="3584448" cy="1481328"/>
          </a:xfrm>
          <a:prstGeom prst="roundRect">
            <a:avLst>
              <a:gd name="adj" fmla="val 617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3566160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6" name="Image 4" descr="icons/su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009" y="379201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3493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 clean clouds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69280" y="3913632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choose a provider or host, ask where the power comes from. Demand drives supply.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273552"/>
            <a:ext cx="3584448" cy="1481328"/>
          </a:xfrm>
          <a:prstGeom prst="roundRect">
            <a:avLst>
              <a:gd name="adj" fmla="val 6173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3566160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1" name="Image 5" descr="icons/comment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049" y="3792017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18320" y="3493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up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418320" y="3913632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spreads. Talk about this — in your projects, your workplaces, your communities.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50749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stop using AI. </a:t>
            </a:r>
            <a:r>
              <a:rPr lang="en-US" sz="1600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have to use it like it costs something — because it does.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40916C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280160"/>
            <a:ext cx="3474720" cy="3474720"/>
          </a:xfrm>
          <a:prstGeom prst="ellipse">
            <a:avLst/>
          </a:prstGeom>
          <a:solidFill>
            <a:srgbClr val="52B78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31520"/>
            <a:ext cx="960120" cy="9601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" y="9811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&amp; Digital Footprint Calculator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13232" y="32004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what you do in a day — AI questions, image generation, video streaming, emails — and watch it add up your energy, water and carbon, with comparisons you can actually picture.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754880"/>
            <a:ext cx="2542032" cy="502920"/>
          </a:xfrm>
          <a:prstGeom prst="roundRect">
            <a:avLst>
              <a:gd name="adj" fmla="val 49091"/>
            </a:avLst>
          </a:prstGeom>
          <a:solidFill>
            <a:srgbClr val="40916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7548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 watt-hours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0" y="4754880"/>
            <a:ext cx="2002536" cy="502920"/>
          </a:xfrm>
          <a:prstGeom prst="roundRect">
            <a:avLst>
              <a:gd name="adj" fmla="val 49091"/>
            </a:avLst>
          </a:prstGeom>
          <a:solidFill>
            <a:srgbClr val="40916C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475488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 litres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78424" y="4754880"/>
            <a:ext cx="1678838" cy="502920"/>
          </a:xfrm>
          <a:prstGeom prst="roundRect">
            <a:avLst>
              <a:gd name="adj" fmla="val 49091"/>
            </a:avLst>
          </a:prstGeom>
          <a:solidFill>
            <a:srgbClr val="40916C"/>
          </a:solidFill>
          <a:ln/>
        </p:spPr>
      </p:sp>
      <p:sp>
        <p:nvSpPr>
          <p:cNvPr id="14" name="Text 11"/>
          <p:cNvSpPr/>
          <p:nvPr/>
        </p:nvSpPr>
        <p:spPr>
          <a:xfrm>
            <a:off x="5678424" y="4754880"/>
            <a:ext cx="16788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in 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558431" y="4754880"/>
            <a:ext cx="3902050" cy="502920"/>
          </a:xfrm>
          <a:prstGeom prst="roundRect">
            <a:avLst>
              <a:gd name="adj" fmla="val 49091"/>
            </a:avLst>
          </a:prstGeom>
          <a:solidFill>
            <a:srgbClr val="40916C"/>
          </a:solidFill>
          <a:ln/>
        </p:spPr>
      </p:sp>
      <p:sp>
        <p:nvSpPr>
          <p:cNvPr id="16" name="Text 13"/>
          <p:cNvSpPr/>
          <p:nvPr/>
        </p:nvSpPr>
        <p:spPr>
          <a:xfrm>
            <a:off x="7558431" y="4754880"/>
            <a:ext cx="39020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Phone-charge &amp; water-bottle comparisons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31520" y="5715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calculator in any browser — runs fully offline, nothing to install.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tech is a career, not just a cause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2194560"/>
          </a:xfrm>
          <a:prstGeom prst="roundRect">
            <a:avLst>
              <a:gd name="adj" fmla="val 4167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2148840"/>
            <a:ext cx="1005840" cy="10058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02" y="24103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cloud &amp; data-centre operations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429000" y="1783080"/>
            <a:ext cx="2670048" cy="2194560"/>
          </a:xfrm>
          <a:prstGeom prst="roundRect">
            <a:avLst>
              <a:gd name="adj" fmla="val 4167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61104" y="2148840"/>
            <a:ext cx="1005840" cy="10058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1" descr="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622" y="241035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software &amp; efficient AI engineering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17920" y="1783080"/>
            <a:ext cx="2670048" cy="2194560"/>
          </a:xfrm>
          <a:prstGeom prst="roundRect">
            <a:avLst>
              <a:gd name="adj" fmla="val 4167"/>
            </a:avLst>
          </a:prstGeom>
          <a:solidFill>
            <a:srgbClr val="EEF6F1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50024" y="2148840"/>
            <a:ext cx="1005840" cy="10058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4" name="Image 2" descr="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542" y="2410358"/>
            <a:ext cx="482803" cy="482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&amp; energy data analysis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006840" y="1783080"/>
            <a:ext cx="2670048" cy="2194560"/>
          </a:xfrm>
          <a:prstGeom prst="roundRect">
            <a:avLst>
              <a:gd name="adj" fmla="val 4167"/>
            </a:avLst>
          </a:prstGeom>
          <a:solidFill>
            <a:srgbClr val="FBF1E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838944" y="2148840"/>
            <a:ext cx="1005840" cy="10058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8" name="Image 3" descr="icons/su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0462" y="2410358"/>
            <a:ext cx="482803" cy="482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35440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systems &amp; grid tech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4251960"/>
            <a:ext cx="10927080" cy="1371600"/>
          </a:xfrm>
          <a:prstGeom prst="roundRect">
            <a:avLst>
              <a:gd name="adj" fmla="val 6667"/>
            </a:avLst>
          </a:prstGeom>
          <a:solidFill>
            <a:srgbClr val="2D6A4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840" y="4526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seedling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810" y="4740250"/>
            <a:ext cx="395021" cy="3950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57400" y="452628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generation that gets to build this.  </a:t>
            </a:r>
            <a:r>
              <a:rPr lang="en-US" sz="15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clean digital infrastructure isn't a problem to inherit — it's a future to design. These are real, growing, well-paid jobs.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840480"/>
            <a:ext cx="4572000" cy="4572000"/>
          </a:xfrm>
          <a:prstGeom prst="ellipse">
            <a:avLst/>
          </a:prstGeom>
          <a:solidFill>
            <a:srgbClr val="40916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554480"/>
            <a:ext cx="4023360" cy="4023360"/>
          </a:xfrm>
          <a:prstGeom prst="ellipse">
            <a:avLst/>
          </a:prstGeom>
          <a:solidFill>
            <a:srgbClr val="52B78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960120" cy="96012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5" name="Image 0" descr="icons/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" y="102687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960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prompt has a price —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like it.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" y="3840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push-back, and your own ideas — let's talk.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31520" y="4709160"/>
            <a:ext cx="274320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892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Aithal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partnership with Crust EcoNetwork  ·  Green Computing Masterclass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3384</Words>
  <Application>Microsoft Office PowerPoint</Application>
  <PresentationFormat>Widescreen</PresentationFormat>
  <Paragraphs>180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Computing in the Age of AI</dc:title>
  <dc:subject>PptxGenJS Presentation</dc:subject>
  <dc:creator>Ananya Aithal</dc:creator>
  <cp:lastModifiedBy>Ananya Aithal</cp:lastModifiedBy>
  <cp:revision>2</cp:revision>
  <dcterms:created xsi:type="dcterms:W3CDTF">2026-06-17T16:18:23Z</dcterms:created>
  <dcterms:modified xsi:type="dcterms:W3CDTF">2026-06-17T16:31:39Z</dcterms:modified>
</cp:coreProperties>
</file>